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seedl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1031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Recomendador de margen de tierra vegetal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822960" y="39776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de Machine Learning para optimizar el pedido de tierra vegetal en obras de jardinería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 de Máster · Data Science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de negocio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4" name="Image 0" descr="icon_clipboard_fo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288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1828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Situación actual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005840" y="251460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cálculo de tierra se basa en una fórmula teórica fija: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tierra_teorica = superficie × espesor × densidad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considera factores reales de la obra: pendiente, accesibilidad, experiencia del equipo, lluvia, tipo de suelo...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o falta material (parar la obra) o sobra (coste extra de transporte y devolución).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263640" y="1554480"/>
            <a:ext cx="5285232" cy="4572000"/>
          </a:xfrm>
          <a:prstGeom prst="roundRect">
            <a:avLst>
              <a:gd name="adj" fmla="val 1600"/>
            </a:avLst>
          </a:prstGeom>
          <a:solidFill>
            <a:srgbClr val="EAF3E5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1" descr="icon_bulb_for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2880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223760" y="1828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del proyecto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629400" y="2514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 el margen adicional óptimo: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629400" y="2926080"/>
            <a:ext cx="4572000" cy="868680"/>
          </a:xfrm>
          <a:prstGeom prst="roundRect">
            <a:avLst>
              <a:gd name="adj" fmla="val 8421"/>
            </a:avLst>
          </a:prstGeom>
          <a:solidFill>
            <a:srgbClr val="2C5F2D"/>
          </a:solidFill>
          <a:ln/>
        </p:spPr>
      </p:sp>
      <p:sp>
        <p:nvSpPr>
          <p:cNvPr id="12" name="Text 8"/>
          <p:cNvSpPr/>
          <p:nvPr/>
        </p:nvSpPr>
        <p:spPr>
          <a:xfrm>
            <a:off x="6629400" y="29260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margen_necesario_pct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29400" y="3977640"/>
            <a:ext cx="4754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iniciar la obra, a partir de los datos disponibles en la fase de presupuesto.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se decide cuánta tierra pedir de más (o de menos) para minimizar tanto roturas de obra como excesos de material.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y metodología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4" name="Image 0" descr="icon_database_fo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087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5087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sintético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60120" y="2057400"/>
            <a:ext cx="50749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656 obras de jardinería (tras limpieza)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variables de entrada: superficie, espesor, densidad, tipo de trabajo/suelo, pendiente, nivelación, accesibilidad, operarios, experiencia, lluvia, estación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margen_necesario_pct (efectos no lineales, saturación, interacciones y ruido)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263640" y="1280160"/>
            <a:ext cx="5285232" cy="2331720"/>
          </a:xfrm>
          <a:prstGeom prst="roundRect">
            <a:avLst>
              <a:gd name="adj" fmla="val 3137"/>
            </a:avLst>
          </a:prstGeom>
          <a:solidFill>
            <a:srgbClr val="FCEEE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1" descr="icon_balance_for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50876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32320" y="15087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de Data Leakage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583680" y="2057400"/>
            <a:ext cx="48463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Excluidas del modelo: 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tierra_pedida_kg, tierra_sobrante_kg, tierra_consumida_real_kg — solo existen DESPUÉS de acabar la obra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2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usan variables conocidas en fase de presupuesto, garantizando que el modelo predice ANTES de ejecutar la obra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40080" y="3794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de trabajo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40080" y="4251960"/>
            <a:ext cx="2697480" cy="2057400"/>
          </a:xfrm>
          <a:prstGeom prst="roundRect">
            <a:avLst>
              <a:gd name="adj" fmla="val 355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icon_chart_fo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48056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8680" y="49834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EDA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68680" y="53492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Distribuciones, correlaciones y validación de relaciones de negocio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3502152" y="4251960"/>
            <a:ext cx="2697480" cy="2057400"/>
          </a:xfrm>
          <a:prstGeom prst="roundRect">
            <a:avLst>
              <a:gd name="adj" fmla="val 355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icon_cogs_fore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752" y="448056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730752" y="49834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Limpieza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3730752" y="53492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Duplicados, tipográficos y rangos imposibles corregidos; NaN conservados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6364224" y="4251960"/>
            <a:ext cx="2697480" cy="2057400"/>
          </a:xfrm>
          <a:prstGeom prst="roundRect">
            <a:avLst>
              <a:gd name="adj" fmla="val 355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icon_flask_fore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4" y="448056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592824" y="49834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Modelado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6592824" y="53492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Comparativa: Reg. Lineal, XGBoost, LightGBM (CV 5-fold)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9226296" y="4251960"/>
            <a:ext cx="2697480" cy="2057400"/>
          </a:xfrm>
          <a:prstGeom prst="roundRect">
            <a:avLst>
              <a:gd name="adj" fmla="val 355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25" name="Image 5" descr="icon_robot_fores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4896" y="448056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454896" y="49834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Selección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9454896" y="53492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final + pipeline guardado para la demo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del modelo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Comparativa de modelos (validación cruzada 5-fold)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54864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33272"/>
                <a:gridCol w="1033272"/>
                <a:gridCol w="1042416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 Lineal 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32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32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32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32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32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32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32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32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97764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Regresión Lineal obtiene el mejor resultado en las tres métricas. Con ~520 obras de entrenamiento y ruido considerable por diseño, un modelo lineal generaliza mejor que modelos de árboles más complejos.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92240" y="1234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final — evaluación en test (132 obras)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92240" y="1691640"/>
            <a:ext cx="1645920" cy="1417320"/>
          </a:xfrm>
          <a:prstGeom prst="roundRect">
            <a:avLst>
              <a:gd name="adj" fmla="val 6452"/>
            </a:avLst>
          </a:prstGeom>
          <a:solidFill>
            <a:srgbClr val="2C5F2D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92240" y="17830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1.96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6492240" y="254203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(puntos de margen)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275320" y="1691640"/>
            <a:ext cx="1645920" cy="1417320"/>
          </a:xfrm>
          <a:prstGeom prst="roundRect">
            <a:avLst>
              <a:gd name="adj" fmla="val 6452"/>
            </a:avLst>
          </a:prstGeom>
          <a:solidFill>
            <a:srgbClr val="2C5F2D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75320" y="17830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2.48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8275320" y="254203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(puntos de margen)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0058400" y="1691640"/>
            <a:ext cx="1645920" cy="1417320"/>
          </a:xfrm>
          <a:prstGeom prst="roundRect">
            <a:avLst>
              <a:gd name="adj" fmla="val 6452"/>
            </a:avLst>
          </a:prstGeom>
          <a:solidFill>
            <a:srgbClr val="2C5F2D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0058400" y="17830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0.65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10058400" y="254203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(varianza explicada)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92240" y="3337560"/>
            <a:ext cx="5120640" cy="2606040"/>
          </a:xfrm>
          <a:prstGeom prst="roundRect">
            <a:avLst>
              <a:gd name="adj" fmla="val 280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17" name="Image 0" descr="icon_check_fo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3566160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269480" y="35661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 aprende las reglas de negocio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812280" y="411480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Nivelación, accesibilidad y experiencia → coeficiente NEGATIVO (menor margen necesario)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Pendiente, espesor y lluvia previa → coeficiente POSITIVO (mayor margen necesario)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Suelo arcilloso → margen base más alto; suelo arenoso → más bajo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Demo: aplicación interactiva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Streamlit que carga el modelo entrenado y, a partir de los datos de una obra, recomienda el margen adicional y la cantidad de tierra a pedir.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852160" cy="4663440"/>
          </a:xfrm>
          <a:prstGeom prst="roundRect">
            <a:avLst>
              <a:gd name="adj" fmla="val 1569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de la obra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Superficie (m²)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2798064"/>
            <a:ext cx="2606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CE5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79806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749040" y="25603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Espesor (cm)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49040" y="2798064"/>
            <a:ext cx="2606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CE5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279806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23697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 suelo (kg/m³)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474720"/>
            <a:ext cx="2606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CE5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47472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49040" y="323697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trabajo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49040" y="3474720"/>
            <a:ext cx="2606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CE5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347472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renovación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391363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suelo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" y="4151376"/>
            <a:ext cx="2606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CE5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15137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arcilloso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49040" y="391363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(%)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49040" y="4151376"/>
            <a:ext cx="2606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CE5D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0" y="415137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45902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Nivelación (1-5)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4400" y="4828032"/>
            <a:ext cx="2606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CE5D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482803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49040" y="45902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 (1-5)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49040" y="4828032"/>
            <a:ext cx="2606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CE5D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0" y="482803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14400" y="52669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operarios (años)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14400" y="5504688"/>
            <a:ext cx="2606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CE5D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" y="550468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49040" y="52669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Lluvia previa (mm)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749040" y="5504688"/>
            <a:ext cx="2606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CE5D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0" y="550468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14400" y="6199632"/>
            <a:ext cx="5303520" cy="292608"/>
          </a:xfrm>
          <a:prstGeom prst="roundRect">
            <a:avLst>
              <a:gd name="adj" fmla="val 15625"/>
            </a:avLst>
          </a:prstGeom>
          <a:solidFill>
            <a:srgbClr val="2C5F2D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619963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recomendación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720840" y="1828800"/>
            <a:ext cx="4828032" cy="4663440"/>
          </a:xfrm>
          <a:prstGeom prst="roundRect">
            <a:avLst>
              <a:gd name="adj" fmla="val 1569"/>
            </a:avLst>
          </a:prstGeom>
          <a:solidFill>
            <a:srgbClr val="EAF3E5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39" name="Image 0" descr="icon_robot_fo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2057400"/>
            <a:ext cx="457200" cy="45720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7543800" y="2057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en-US" sz="1700" dirty="0"/>
          </a:p>
        </p:txBody>
      </p:sp>
      <p:sp>
        <p:nvSpPr>
          <p:cNvPr id="41" name="Shape 38"/>
          <p:cNvSpPr/>
          <p:nvPr/>
        </p:nvSpPr>
        <p:spPr>
          <a:xfrm>
            <a:off x="6995160" y="2743200"/>
            <a:ext cx="4297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</p:spPr>
      </p:sp>
      <p:sp>
        <p:nvSpPr>
          <p:cNvPr id="42" name="Text 39"/>
          <p:cNvSpPr/>
          <p:nvPr/>
        </p:nvSpPr>
        <p:spPr>
          <a:xfrm>
            <a:off x="7223760" y="27432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Tierra teórica (kg)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9692640" y="274320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23.625</a:t>
            </a:r>
            <a:endParaRPr lang="en-US" sz="2000" dirty="0"/>
          </a:p>
        </p:txBody>
      </p:sp>
      <p:sp>
        <p:nvSpPr>
          <p:cNvPr id="44" name="Shape 41"/>
          <p:cNvSpPr/>
          <p:nvPr/>
        </p:nvSpPr>
        <p:spPr>
          <a:xfrm>
            <a:off x="6995160" y="3794760"/>
            <a:ext cx="4297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</p:spPr>
      </p:sp>
      <p:sp>
        <p:nvSpPr>
          <p:cNvPr id="45" name="Text 42"/>
          <p:cNvSpPr/>
          <p:nvPr/>
        </p:nvSpPr>
        <p:spPr>
          <a:xfrm>
            <a:off x="7223760" y="37947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recomendado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9692640" y="37947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+12.4 %</a:t>
            </a:r>
            <a:endParaRPr lang="en-US" sz="2000" dirty="0"/>
          </a:p>
        </p:txBody>
      </p:sp>
      <p:sp>
        <p:nvSpPr>
          <p:cNvPr id="47" name="Shape 44"/>
          <p:cNvSpPr/>
          <p:nvPr/>
        </p:nvSpPr>
        <p:spPr>
          <a:xfrm>
            <a:off x="6995160" y="4846320"/>
            <a:ext cx="4297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</p:spPr>
      </p:sp>
      <p:sp>
        <p:nvSpPr>
          <p:cNvPr id="48" name="Text 45"/>
          <p:cNvSpPr/>
          <p:nvPr/>
        </p:nvSpPr>
        <p:spPr>
          <a:xfrm>
            <a:off x="7223760" y="48463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Tierra a pedir (kg)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9692640" y="484632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26.548</a:t>
            </a:r>
            <a:endParaRPr lang="en-US" sz="2000" dirty="0"/>
          </a:p>
        </p:txBody>
      </p:sp>
      <p:sp>
        <p:nvSpPr>
          <p:cNvPr id="50" name="Text 47"/>
          <p:cNvSpPr/>
          <p:nvPr/>
        </p:nvSpPr>
        <p:spPr>
          <a:xfrm>
            <a:off x="6995160" y="594360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 recomienda pedir 2.923 kg adicionales sobre el cálculo teórico (+12.4% extra) dadas las condiciones de la obra: pendiente alta, suelo arcilloso, mala nivelación y poca experiencia del equipo."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y limitaciones</a:t>
            </a:r>
            <a:endParaRPr lang="en-US" sz="3200" dirty="0"/>
          </a:p>
        </p:txBody>
      </p:sp>
      <p:pic>
        <p:nvPicPr>
          <p:cNvPr id="3" name="Image 0" descr="icon_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68680" y="2286000"/>
            <a:ext cx="53949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capta relaciones coherentes con las reglas de negocio (pendiente, nivelación, accesibilidad, lluvia × suelo, experiencia)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garantiza ausencia de data leakage: solo se usan variables conocidas antes de ejecutar la obra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simple (Regresión Lineal) iguala o supera a modelos más complejos en este escenario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demo permite traducir la predicción en una recomendación operativa directa (kg de tierra a pedir)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0" y="169164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icon_warning_for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1755648"/>
            <a:ext cx="283464" cy="2834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9440" y="1691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 y trabajo futuro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446520" y="2286000"/>
            <a:ext cx="53035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sintético: las relaciones reales pueden diferir de las simuladas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moderado (656 obras) limita la capacidad de los modelos no lineales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≈ 0.65: queda varianza sin explicar, parte de ella ruido por diseño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pasos: validar con datos reales, ampliar muestra, explorar nuevas variables (tipo de planta, maquinaria, etc.)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Recomendador de margen de tierra vegetal</dc:title>
  <dc:subject>PptxGenJS Presentation</dc:subject>
  <dc:creator>TFM Data Science</dc:creator>
  <cp:lastModifiedBy>TFM Data Science</cp:lastModifiedBy>
  <cp:revision>1</cp:revision>
  <dcterms:created xsi:type="dcterms:W3CDTF">2026-06-14T15:43:13Z</dcterms:created>
  <dcterms:modified xsi:type="dcterms:W3CDTF">2026-06-14T15:43:13Z</dcterms:modified>
</cp:coreProperties>
</file>